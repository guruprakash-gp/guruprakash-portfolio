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3/16/2026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3/16/2026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3/16/2026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3/16/2026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3/16/2026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3/16/2026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3/16/2026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3/16/2026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3/16/2026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3/16/2026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3/16/2026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3/16/2026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BA4AC-D4CF-8B00-7ECE-BA102F6DCAC6}"/>
              </a:ext>
            </a:extLst>
          </p:cNvPr>
          <p:cNvSpPr>
            <a:spLocks noGrp="1"/>
          </p:cNvSpPr>
          <p:nvPr>
            <p:ph type="ctrTitle"/>
          </p:nvPr>
        </p:nvSpPr>
        <p:spPr>
          <a:xfrm>
            <a:off x="2159321" y="2608866"/>
            <a:ext cx="8681504" cy="2268559"/>
          </a:xfrm>
        </p:spPr>
        <p:txBody>
          <a:bodyPr>
            <a:normAutofit/>
          </a:bodyPr>
          <a:lstStyle/>
          <a:p>
            <a:pPr algn="l"/>
            <a:r>
              <a:rPr lang="en-US" b="1" dirty="0"/>
              <a:t>ATRIAL FIBRILLATION</a:t>
            </a:r>
            <a:br>
              <a:rPr lang="en-IN" dirty="0"/>
            </a:br>
            <a:endParaRPr lang="en-IN" dirty="0"/>
          </a:p>
        </p:txBody>
      </p:sp>
    </p:spTree>
    <p:extLst>
      <p:ext uri="{BB962C8B-B14F-4D97-AF65-F5344CB8AC3E}">
        <p14:creationId xmlns:p14="http://schemas.microsoft.com/office/powerpoint/2010/main" val="1074709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1D76A-F638-5978-4074-DA605296A3B8}"/>
              </a:ext>
            </a:extLst>
          </p:cNvPr>
          <p:cNvSpPr>
            <a:spLocks noGrp="1"/>
          </p:cNvSpPr>
          <p:nvPr>
            <p:ph type="title"/>
          </p:nvPr>
        </p:nvSpPr>
        <p:spPr/>
        <p:txBody>
          <a:bodyPr/>
          <a:lstStyle/>
          <a:p>
            <a:pPr algn="l"/>
            <a:r>
              <a:rPr lang="en-US" b="1" dirty="0">
                <a:latin typeface="Times New Roman" panose="02020603050405020304" pitchFamily="18" charset="0"/>
                <a:cs typeface="Times New Roman" panose="02020603050405020304" pitchFamily="18" charset="0"/>
              </a:rPr>
              <a:t>ABSTRACT</a:t>
            </a:r>
            <a:br>
              <a:rPr lang="en-IN" dirty="0"/>
            </a:br>
            <a:endParaRPr lang="en-IN" dirty="0"/>
          </a:p>
        </p:txBody>
      </p:sp>
      <p:sp>
        <p:nvSpPr>
          <p:cNvPr id="3" name="Content Placeholder 2">
            <a:extLst>
              <a:ext uri="{FF2B5EF4-FFF2-40B4-BE49-F238E27FC236}">
                <a16:creationId xmlns:a16="http://schemas.microsoft.com/office/drawing/2014/main" id="{24512CA3-B972-B5F3-E6F0-C1105ED8BDC5}"/>
              </a:ext>
            </a:extLst>
          </p:cNvPr>
          <p:cNvSpPr>
            <a:spLocks noGrp="1"/>
          </p:cNvSpPr>
          <p:nvPr>
            <p:ph idx="1"/>
          </p:nvPr>
        </p:nvSpPr>
        <p:spPr>
          <a:xfrm>
            <a:off x="1395167" y="1640264"/>
            <a:ext cx="9174972" cy="4579363"/>
          </a:xfrm>
        </p:spPr>
        <p:txBody>
          <a:bodyPr>
            <a:normAutofit/>
          </a:bodyPr>
          <a:lstStyle/>
          <a:p>
            <a:r>
              <a:rPr lang="en-IN" dirty="0">
                <a:latin typeface="Times New Roman" panose="02020603050405020304" pitchFamily="18" charset="0"/>
                <a:cs typeface="Times New Roman" panose="02020603050405020304" pitchFamily="18" charset="0"/>
              </a:rPr>
              <a:t>Atrial Fibrillation (AF) is a prevalent cardiac arrhythmia that poses significant risks, including stroke and heart failure. Timely detection of AF is crucial for effective management and prevention of complications. This paper presents a novel system for AF detection using Convolutional Neural Networks (CNNs) applied to Electrocardiogram (ECG) signals. The proposed method involves transforming raw ECG data into 2D spectrograms to capture essential features indicative of AF. A CNN model is trained on these spectrograms to learn and identify patterns associated with AF episodes accurately. Experimental results demonstrate that the CNN-based approach achieves high sensitivity and specificity, outperforming traditional methods. The proposed system aims to enhance AF detection in real-time, providing a valuable tool for healthcare professionals and improving patient outcomes.</a:t>
            </a:r>
          </a:p>
          <a:p>
            <a:endParaRPr lang="en-IN" dirty="0"/>
          </a:p>
        </p:txBody>
      </p:sp>
    </p:spTree>
    <p:extLst>
      <p:ext uri="{BB962C8B-B14F-4D97-AF65-F5344CB8AC3E}">
        <p14:creationId xmlns:p14="http://schemas.microsoft.com/office/powerpoint/2010/main" val="2341344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9A751-327B-E356-44B0-B45528019FE4}"/>
              </a:ext>
            </a:extLst>
          </p:cNvPr>
          <p:cNvSpPr>
            <a:spLocks noGrp="1"/>
          </p:cNvSpPr>
          <p:nvPr>
            <p:ph type="title"/>
          </p:nvPr>
        </p:nvSpPr>
        <p:spPr>
          <a:xfrm>
            <a:off x="2116834" y="692871"/>
            <a:ext cx="7958331" cy="1077229"/>
          </a:xfrm>
        </p:spPr>
        <p:txBody>
          <a:bodyPr/>
          <a:lstStyle/>
          <a:p>
            <a:pPr algn="l"/>
            <a:r>
              <a:rPr lang="en-US" sz="3600" b="1" dirty="0">
                <a:latin typeface="Times New Roman" pitchFamily="18" charset="0"/>
                <a:cs typeface="Times New Roman" pitchFamily="18" charset="0"/>
              </a:rPr>
              <a:t>INTRODUCTION</a:t>
            </a:r>
            <a:endParaRPr lang="en-IN" dirty="0"/>
          </a:p>
        </p:txBody>
      </p:sp>
      <p:sp>
        <p:nvSpPr>
          <p:cNvPr id="3" name="Content Placeholder 2">
            <a:extLst>
              <a:ext uri="{FF2B5EF4-FFF2-40B4-BE49-F238E27FC236}">
                <a16:creationId xmlns:a16="http://schemas.microsoft.com/office/drawing/2014/main" id="{131C09DA-C27F-CC54-6695-1E11F30E1DBA}"/>
              </a:ext>
            </a:extLst>
          </p:cNvPr>
          <p:cNvSpPr>
            <a:spLocks noGrp="1"/>
          </p:cNvSpPr>
          <p:nvPr>
            <p:ph idx="1"/>
          </p:nvPr>
        </p:nvSpPr>
        <p:spPr>
          <a:xfrm>
            <a:off x="2010027" y="1885284"/>
            <a:ext cx="8246335" cy="4279845"/>
          </a:xfrm>
        </p:spPr>
        <p:txBody>
          <a:bodyPr>
            <a:normAutofit/>
          </a:bodyPr>
          <a:lstStyle/>
          <a:p>
            <a:r>
              <a:rPr lang="en-US" b="1" dirty="0">
                <a:latin typeface="Times New Roman" panose="02020603050405020304" pitchFamily="18" charset="0"/>
                <a:cs typeface="Times New Roman" panose="02020603050405020304" pitchFamily="18" charset="0"/>
              </a:rPr>
              <a:t>Atrial Fibrillation (AF)</a:t>
            </a:r>
            <a:r>
              <a:rPr lang="en-US" dirty="0">
                <a:latin typeface="Times New Roman" panose="02020603050405020304" pitchFamily="18" charset="0"/>
                <a:cs typeface="Times New Roman" panose="02020603050405020304" pitchFamily="18" charset="0"/>
              </a:rPr>
              <a:t> is one of the most common cardiac arrhythmias affecting millions of people worldwide.</a:t>
            </a:r>
          </a:p>
          <a:p>
            <a:r>
              <a:rPr lang="en-US" dirty="0">
                <a:latin typeface="Times New Roman" panose="02020603050405020304" pitchFamily="18" charset="0"/>
                <a:cs typeface="Times New Roman" panose="02020603050405020304" pitchFamily="18" charset="0"/>
              </a:rPr>
              <a:t>It is characterized by </a:t>
            </a:r>
            <a:r>
              <a:rPr lang="en-US" b="1" dirty="0">
                <a:latin typeface="Times New Roman" panose="02020603050405020304" pitchFamily="18" charset="0"/>
                <a:cs typeface="Times New Roman" panose="02020603050405020304" pitchFamily="18" charset="0"/>
              </a:rPr>
              <a:t>irregular and rapid heart rhythms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AF can lead to serious complications such as </a:t>
            </a:r>
            <a:r>
              <a:rPr lang="en-US" b="1" dirty="0">
                <a:latin typeface="Times New Roman" panose="02020603050405020304" pitchFamily="18" charset="0"/>
                <a:cs typeface="Times New Roman" panose="02020603050405020304" pitchFamily="18" charset="0"/>
              </a:rPr>
              <a:t>stroke, heart failure, and increased mortality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Electrocardiogram (ECG)</a:t>
            </a:r>
            <a:r>
              <a:rPr lang="en-US" dirty="0">
                <a:latin typeface="Times New Roman" panose="02020603050405020304" pitchFamily="18" charset="0"/>
                <a:cs typeface="Times New Roman" panose="02020603050405020304" pitchFamily="18" charset="0"/>
              </a:rPr>
              <a:t> is a widely used diagnostic tool to monitor the electrical activity of the heart.</a:t>
            </a:r>
          </a:p>
          <a:p>
            <a:r>
              <a:rPr lang="en-US" b="1" dirty="0">
                <a:latin typeface="Times New Roman" panose="02020603050405020304" pitchFamily="18" charset="0"/>
                <a:cs typeface="Times New Roman" panose="02020603050405020304" pitchFamily="18" charset="0"/>
              </a:rPr>
              <a:t>Early detection of AF</a:t>
            </a:r>
            <a:r>
              <a:rPr lang="en-US" dirty="0">
                <a:latin typeface="Times New Roman" panose="02020603050405020304" pitchFamily="18" charset="0"/>
                <a:cs typeface="Times New Roman" panose="02020603050405020304" pitchFamily="18" charset="0"/>
              </a:rPr>
              <a:t> is very important for effective treatment and prevention of complications.</a:t>
            </a:r>
          </a:p>
          <a:p>
            <a:pPr marL="0" indent="0">
              <a:buNone/>
            </a:pPr>
            <a:endParaRPr lang="en-IN" dirty="0"/>
          </a:p>
        </p:txBody>
      </p:sp>
    </p:spTree>
    <p:extLst>
      <p:ext uri="{BB962C8B-B14F-4D97-AF65-F5344CB8AC3E}">
        <p14:creationId xmlns:p14="http://schemas.microsoft.com/office/powerpoint/2010/main" val="309495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7AAB-8234-C6E8-6657-E998B0725316}"/>
              </a:ext>
            </a:extLst>
          </p:cNvPr>
          <p:cNvSpPr>
            <a:spLocks noGrp="1"/>
          </p:cNvSpPr>
          <p:nvPr>
            <p:ph type="title"/>
          </p:nvPr>
        </p:nvSpPr>
        <p:spPr>
          <a:xfrm>
            <a:off x="1556006" y="808056"/>
            <a:ext cx="8879466" cy="992388"/>
          </a:xfrm>
        </p:spPr>
        <p:txBody>
          <a:bodyPr>
            <a:normAutofit/>
          </a:bodyPr>
          <a:lstStyle/>
          <a:p>
            <a:pPr algn="l"/>
            <a:r>
              <a:rPr lang="en-IN" dirty="0">
                <a:latin typeface="Times New Roman" panose="02020603050405020304" pitchFamily="18" charset="0"/>
                <a:cs typeface="Times New Roman" panose="02020603050405020304" pitchFamily="18" charset="0"/>
              </a:rPr>
              <a:t>Atrial Fibrillation</a:t>
            </a:r>
            <a:r>
              <a:rPr lang="en-US" dirty="0">
                <a:latin typeface="Times New Roman" panose="02020603050405020304" pitchFamily="18" charset="0"/>
                <a:cs typeface="Times New Roman" panose="02020603050405020304" pitchFamily="18" charset="0"/>
              </a:rPr>
              <a:t> Detection using Deep Learning</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BDF896E-0606-3F76-18DF-7B82E9D4D2EC}"/>
              </a:ext>
            </a:extLst>
          </p:cNvPr>
          <p:cNvSpPr>
            <a:spLocks noGrp="1" noChangeArrowheads="1"/>
          </p:cNvSpPr>
          <p:nvPr>
            <p:ph idx="1"/>
          </p:nvPr>
        </p:nvSpPr>
        <p:spPr bwMode="auto">
          <a:xfrm>
            <a:off x="1386323" y="1601845"/>
            <a:ext cx="963276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AF detection mainly depends on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interpretation of ECG signals by </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process can be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and prone to human errors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advancements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techniques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automated solutions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AF detection.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learn patterns from ECG signals and identify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 accurately.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ECG signals can be converted into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 representations such as spectrograms or </a:t>
            </a: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wavelet transforms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feature extraction.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helps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and improved diagnosis of AF</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104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DFC1C-05E1-8074-3A31-D3C5E2D791B4}"/>
              </a:ext>
            </a:extLst>
          </p:cNvPr>
          <p:cNvSpPr>
            <a:spLocks noGrp="1"/>
          </p:cNvSpPr>
          <p:nvPr>
            <p:ph type="title"/>
          </p:nvPr>
        </p:nvSpPr>
        <p:spPr>
          <a:xfrm>
            <a:off x="1801103" y="808055"/>
            <a:ext cx="7958331" cy="1077229"/>
          </a:xfrm>
        </p:spPr>
        <p:txBody>
          <a:bodyPr>
            <a:normAutofit/>
          </a:bodyPr>
          <a:lstStyle/>
          <a:p>
            <a:pPr algn="l"/>
            <a:r>
              <a:rPr lang="en-IN" sz="36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765A9B04-9260-AD3E-C80A-1DEEADDD0C73}"/>
              </a:ext>
            </a:extLst>
          </p:cNvPr>
          <p:cNvSpPr>
            <a:spLocks noGrp="1"/>
          </p:cNvSpPr>
          <p:nvPr>
            <p:ph idx="1"/>
          </p:nvPr>
        </p:nvSpPr>
        <p:spPr>
          <a:xfrm>
            <a:off x="1641986" y="1885284"/>
            <a:ext cx="9114503" cy="4164659"/>
          </a:xfrm>
        </p:spPr>
        <p:txBody>
          <a:bodyPr>
            <a:normAutofit fontScale="92500" lnSpcReduction="10000"/>
          </a:bodyPr>
          <a:lstStyle/>
          <a:p>
            <a:r>
              <a:rPr lang="en-US" sz="2200" dirty="0">
                <a:latin typeface="Times New Roman" panose="02020603050405020304" pitchFamily="18" charset="0"/>
                <a:cs typeface="Times New Roman" panose="02020603050405020304" pitchFamily="18" charset="0"/>
              </a:rPr>
              <a:t>To develop an automated system for detecting </a:t>
            </a:r>
            <a:r>
              <a:rPr lang="en-US" sz="2200" b="1" dirty="0">
                <a:latin typeface="Times New Roman" panose="02020603050405020304" pitchFamily="18" charset="0"/>
                <a:cs typeface="Times New Roman" panose="02020603050405020304" pitchFamily="18" charset="0"/>
              </a:rPr>
              <a:t>Atrial Fibrillation (AF)</a:t>
            </a:r>
            <a:r>
              <a:rPr lang="en-US" sz="2200" dirty="0">
                <a:latin typeface="Times New Roman" panose="02020603050405020304" pitchFamily="18" charset="0"/>
                <a:cs typeface="Times New Roman" panose="02020603050405020304" pitchFamily="18" charset="0"/>
              </a:rPr>
              <a:t> using ECG signals.</a:t>
            </a:r>
          </a:p>
          <a:p>
            <a:r>
              <a:rPr lang="en-US" sz="2200" dirty="0">
                <a:latin typeface="Times New Roman" panose="02020603050405020304" pitchFamily="18" charset="0"/>
                <a:cs typeface="Times New Roman" panose="02020603050405020304" pitchFamily="18" charset="0"/>
              </a:rPr>
              <a:t>To apply </a:t>
            </a:r>
            <a:r>
              <a:rPr lang="en-US" sz="2200" b="1" dirty="0">
                <a:latin typeface="Times New Roman" panose="02020603050405020304" pitchFamily="18" charset="0"/>
                <a:cs typeface="Times New Roman" panose="02020603050405020304" pitchFamily="18" charset="0"/>
              </a:rPr>
              <a:t>Convolutional Neural Networks (CNN)</a:t>
            </a:r>
            <a:r>
              <a:rPr lang="en-US" sz="2200" dirty="0">
                <a:latin typeface="Times New Roman" panose="02020603050405020304" pitchFamily="18" charset="0"/>
                <a:cs typeface="Times New Roman" panose="02020603050405020304" pitchFamily="18" charset="0"/>
              </a:rPr>
              <a:t> for accurate classification of AF and normal heart rhythms.</a:t>
            </a:r>
          </a:p>
          <a:p>
            <a:r>
              <a:rPr lang="en-US" sz="2200" dirty="0">
                <a:latin typeface="Times New Roman" panose="02020603050405020304" pitchFamily="18" charset="0"/>
                <a:cs typeface="Times New Roman" panose="02020603050405020304" pitchFamily="18" charset="0"/>
              </a:rPr>
              <a:t>To convert ECG signals into </a:t>
            </a:r>
            <a:r>
              <a:rPr lang="en-US" sz="2200" b="1" dirty="0">
                <a:latin typeface="Times New Roman" panose="02020603050405020304" pitchFamily="18" charset="0"/>
                <a:cs typeface="Times New Roman" panose="02020603050405020304" pitchFamily="18" charset="0"/>
              </a:rPr>
              <a:t>2D spectrogram representations</a:t>
            </a:r>
            <a:r>
              <a:rPr lang="en-US" sz="2200" dirty="0">
                <a:latin typeface="Times New Roman" panose="02020603050405020304" pitchFamily="18" charset="0"/>
                <a:cs typeface="Times New Roman" panose="02020603050405020304" pitchFamily="18" charset="0"/>
              </a:rPr>
              <a:t> for better feature extraction.</a:t>
            </a:r>
          </a:p>
          <a:p>
            <a:r>
              <a:rPr lang="en-US" sz="2200" dirty="0">
                <a:latin typeface="Times New Roman" panose="02020603050405020304" pitchFamily="18" charset="0"/>
                <a:cs typeface="Times New Roman" panose="02020603050405020304" pitchFamily="18" charset="0"/>
              </a:rPr>
              <a:t>To improve the </a:t>
            </a:r>
            <a:r>
              <a:rPr lang="en-US" sz="2200" b="1" dirty="0">
                <a:latin typeface="Times New Roman" panose="02020603050405020304" pitchFamily="18" charset="0"/>
                <a:cs typeface="Times New Roman" panose="02020603050405020304" pitchFamily="18" charset="0"/>
              </a:rPr>
              <a:t>accuracy and efficiency</a:t>
            </a:r>
            <a:r>
              <a:rPr lang="en-US" sz="2200" dirty="0">
                <a:latin typeface="Times New Roman" panose="02020603050405020304" pitchFamily="18" charset="0"/>
                <a:cs typeface="Times New Roman" panose="02020603050405020304" pitchFamily="18" charset="0"/>
              </a:rPr>
              <a:t> of AF detection compared to traditional methods.</a:t>
            </a:r>
          </a:p>
          <a:p>
            <a:r>
              <a:rPr lang="en-US" sz="2200" dirty="0">
                <a:latin typeface="Times New Roman" panose="02020603050405020304" pitchFamily="18" charset="0"/>
                <a:cs typeface="Times New Roman" panose="02020603050405020304" pitchFamily="18" charset="0"/>
              </a:rPr>
              <a:t>To support </a:t>
            </a:r>
            <a:r>
              <a:rPr lang="en-US" sz="2200" b="1" dirty="0">
                <a:latin typeface="Times New Roman" panose="02020603050405020304" pitchFamily="18" charset="0"/>
                <a:cs typeface="Times New Roman" panose="02020603050405020304" pitchFamily="18" charset="0"/>
              </a:rPr>
              <a:t>early diagnosis and real-time monitoring</a:t>
            </a:r>
            <a:r>
              <a:rPr lang="en-US" sz="2200" dirty="0">
                <a:latin typeface="Times New Roman" panose="02020603050405020304" pitchFamily="18" charset="0"/>
                <a:cs typeface="Times New Roman" panose="02020603050405020304" pitchFamily="18" charset="0"/>
              </a:rPr>
              <a:t> of heart conditions.</a:t>
            </a:r>
          </a:p>
          <a:p>
            <a:endParaRPr lang="en-IN" dirty="0"/>
          </a:p>
        </p:txBody>
      </p:sp>
    </p:spTree>
    <p:extLst>
      <p:ext uri="{BB962C8B-B14F-4D97-AF65-F5344CB8AC3E}">
        <p14:creationId xmlns:p14="http://schemas.microsoft.com/office/powerpoint/2010/main" val="232269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ADD0-E731-97DD-A592-F3B5CD6037A5}"/>
              </a:ext>
            </a:extLst>
          </p:cNvPr>
          <p:cNvSpPr>
            <a:spLocks noGrp="1"/>
          </p:cNvSpPr>
          <p:nvPr>
            <p:ph type="title"/>
          </p:nvPr>
        </p:nvSpPr>
        <p:spPr>
          <a:xfrm>
            <a:off x="1631420" y="808056"/>
            <a:ext cx="7958331" cy="1077229"/>
          </a:xfrm>
        </p:spPr>
        <p:txBody>
          <a:bodyPr/>
          <a:lstStyle/>
          <a:p>
            <a:pPr algn="l"/>
            <a:r>
              <a:rPr lang="en-US" sz="3600" b="1" dirty="0">
                <a:latin typeface="Times New Roman"/>
                <a:cs typeface="Times New Roman"/>
              </a:rPr>
              <a:t>LITERATURE</a:t>
            </a:r>
            <a:endParaRPr lang="en-IN" dirty="0"/>
          </a:p>
        </p:txBody>
      </p:sp>
      <p:sp>
        <p:nvSpPr>
          <p:cNvPr id="3" name="Content Placeholder 2">
            <a:extLst>
              <a:ext uri="{FF2B5EF4-FFF2-40B4-BE49-F238E27FC236}">
                <a16:creationId xmlns:a16="http://schemas.microsoft.com/office/drawing/2014/main" id="{222704D9-D6FB-3D51-2610-877EF84AD3E9}"/>
              </a:ext>
            </a:extLst>
          </p:cNvPr>
          <p:cNvSpPr>
            <a:spLocks noGrp="1"/>
          </p:cNvSpPr>
          <p:nvPr>
            <p:ph idx="1"/>
          </p:nvPr>
        </p:nvSpPr>
        <p:spPr>
          <a:xfrm>
            <a:off x="1451728" y="1885285"/>
            <a:ext cx="9398524" cy="4164659"/>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Recent studies show that </a:t>
            </a:r>
            <a:r>
              <a:rPr lang="en-US" b="1" dirty="0">
                <a:latin typeface="Times New Roman" panose="02020603050405020304" pitchFamily="18" charset="0"/>
                <a:cs typeface="Times New Roman" panose="02020603050405020304" pitchFamily="18" charset="0"/>
              </a:rPr>
              <a:t>Deep Learning techniques</a:t>
            </a:r>
            <a:r>
              <a:rPr lang="en-US" dirty="0">
                <a:latin typeface="Times New Roman" panose="02020603050405020304" pitchFamily="18" charset="0"/>
                <a:cs typeface="Times New Roman" panose="02020603050405020304" pitchFamily="18" charset="0"/>
              </a:rPr>
              <a:t> are effective in detecting </a:t>
            </a:r>
            <a:r>
              <a:rPr lang="en-US" b="1" dirty="0">
                <a:latin typeface="Times New Roman" panose="02020603050405020304" pitchFamily="18" charset="0"/>
                <a:cs typeface="Times New Roman" panose="02020603050405020304" pitchFamily="18" charset="0"/>
              </a:rPr>
              <a:t>Atrial Fibrillation (AF)</a:t>
            </a:r>
            <a:r>
              <a:rPr lang="en-US" dirty="0">
                <a:latin typeface="Times New Roman" panose="02020603050405020304" pitchFamily="18" charset="0"/>
                <a:cs typeface="Times New Roman" panose="02020603050405020304" pitchFamily="18" charset="0"/>
              </a:rPr>
              <a:t> from ECG signals.</a:t>
            </a:r>
          </a:p>
          <a:p>
            <a:r>
              <a:rPr lang="en-US" b="1" dirty="0" err="1">
                <a:latin typeface="Times New Roman" panose="02020603050405020304" pitchFamily="18" charset="0"/>
                <a:cs typeface="Times New Roman" panose="02020603050405020304" pitchFamily="18" charset="0"/>
              </a:rPr>
              <a:t>Rajpurkar</a:t>
            </a:r>
            <a:r>
              <a:rPr lang="en-US" b="1" dirty="0">
                <a:latin typeface="Times New Roman" panose="02020603050405020304" pitchFamily="18" charset="0"/>
                <a:cs typeface="Times New Roman" panose="02020603050405020304" pitchFamily="18" charset="0"/>
              </a:rPr>
              <a:t> et al. (2017)</a:t>
            </a:r>
            <a:r>
              <a:rPr lang="en-US" dirty="0">
                <a:latin typeface="Times New Roman" panose="02020603050405020304" pitchFamily="18" charset="0"/>
                <a:cs typeface="Times New Roman" panose="02020603050405020304" pitchFamily="18" charset="0"/>
              </a:rPr>
              <a:t> developed a CNN-based model that analyzed raw ECG data and achieved </a:t>
            </a:r>
            <a:r>
              <a:rPr lang="en-US" b="1" dirty="0">
                <a:latin typeface="Times New Roman" panose="02020603050405020304" pitchFamily="18" charset="0"/>
                <a:cs typeface="Times New Roman" panose="02020603050405020304" pitchFamily="18" charset="0"/>
              </a:rPr>
              <a:t>high sensitivity and specificity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Asgari et al. (2015)</a:t>
            </a:r>
            <a:r>
              <a:rPr lang="en-US" dirty="0">
                <a:latin typeface="Times New Roman" panose="02020603050405020304" pitchFamily="18" charset="0"/>
                <a:cs typeface="Times New Roman" panose="02020603050405020304" pitchFamily="18" charset="0"/>
              </a:rPr>
              <a:t> compared machine learning algorithms such as </a:t>
            </a:r>
            <a:r>
              <a:rPr lang="en-US" b="1" dirty="0">
                <a:latin typeface="Times New Roman" panose="02020603050405020304" pitchFamily="18" charset="0"/>
                <a:cs typeface="Times New Roman" panose="02020603050405020304" pitchFamily="18" charset="0"/>
              </a:rPr>
              <a:t>SVM, Random Forest, and KNN</a:t>
            </a:r>
            <a:r>
              <a:rPr lang="en-US" dirty="0">
                <a:latin typeface="Times New Roman" panose="02020603050405020304" pitchFamily="18" charset="0"/>
                <a:cs typeface="Times New Roman" panose="02020603050405020304" pitchFamily="18" charset="0"/>
              </a:rPr>
              <a:t> for AF detection.</a:t>
            </a:r>
          </a:p>
          <a:p>
            <a:r>
              <a:rPr lang="en-US" dirty="0">
                <a:latin typeface="Times New Roman" panose="02020603050405020304" pitchFamily="18" charset="0"/>
                <a:cs typeface="Times New Roman" panose="02020603050405020304" pitchFamily="18" charset="0"/>
              </a:rPr>
              <a:t>These traditional methods required </a:t>
            </a:r>
            <a:r>
              <a:rPr lang="en-US" b="1" dirty="0">
                <a:latin typeface="Times New Roman" panose="02020603050405020304" pitchFamily="18" charset="0"/>
                <a:cs typeface="Times New Roman" panose="02020603050405020304" pitchFamily="18" charset="0"/>
              </a:rPr>
              <a:t>manual feature extraction</a:t>
            </a:r>
            <a:r>
              <a:rPr lang="en-US" dirty="0">
                <a:latin typeface="Times New Roman" panose="02020603050405020304" pitchFamily="18" charset="0"/>
                <a:cs typeface="Times New Roman" panose="02020603050405020304" pitchFamily="18" charset="0"/>
              </a:rPr>
              <a:t>, which sometimes failed to capture complex ECG patterns.</a:t>
            </a:r>
          </a:p>
          <a:p>
            <a:r>
              <a:rPr lang="en-US" dirty="0">
                <a:latin typeface="Times New Roman" panose="02020603050405020304" pitchFamily="18" charset="0"/>
                <a:cs typeface="Times New Roman" panose="02020603050405020304" pitchFamily="18" charset="0"/>
              </a:rPr>
              <a:t>Researchers suggested that </a:t>
            </a:r>
            <a:r>
              <a:rPr lang="en-US" b="1" dirty="0">
                <a:latin typeface="Times New Roman" panose="02020603050405020304" pitchFamily="18" charset="0"/>
                <a:cs typeface="Times New Roman" panose="02020603050405020304" pitchFamily="18" charset="0"/>
              </a:rPr>
              <a:t>CNN models can automatically extract features</a:t>
            </a:r>
            <a:r>
              <a:rPr lang="en-US" dirty="0">
                <a:latin typeface="Times New Roman" panose="02020603050405020304" pitchFamily="18" charset="0"/>
                <a:cs typeface="Times New Roman" panose="02020603050405020304" pitchFamily="18" charset="0"/>
              </a:rPr>
              <a:t>, improving detection accuracy.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078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B8A1-A38A-5122-F947-5A5D1FFFE49A}"/>
              </a:ext>
            </a:extLst>
          </p:cNvPr>
          <p:cNvSpPr>
            <a:spLocks noGrp="1"/>
          </p:cNvSpPr>
          <p:nvPr>
            <p:ph type="title"/>
          </p:nvPr>
        </p:nvSpPr>
        <p:spPr>
          <a:xfrm>
            <a:off x="1640848" y="817483"/>
            <a:ext cx="7958331" cy="1077229"/>
          </a:xfrm>
        </p:spPr>
        <p:txBody>
          <a:bodyPr>
            <a:normAutofit/>
          </a:bodyPr>
          <a:lstStyle/>
          <a:p>
            <a:pPr algn="l"/>
            <a:r>
              <a:rPr lang="en-US" sz="3600" b="1" dirty="0">
                <a:latin typeface="Times New Roman"/>
                <a:cs typeface="Times New Roman"/>
              </a:rPr>
              <a:t>LITERATURE</a:t>
            </a:r>
            <a:endParaRPr lang="en-IN" sz="3600" dirty="0"/>
          </a:p>
        </p:txBody>
      </p:sp>
      <p:sp>
        <p:nvSpPr>
          <p:cNvPr id="6" name="Rectangle 3">
            <a:extLst>
              <a:ext uri="{FF2B5EF4-FFF2-40B4-BE49-F238E27FC236}">
                <a16:creationId xmlns:a16="http://schemas.microsoft.com/office/drawing/2014/main" id="{E9FBD8F7-91DB-2936-F7E8-99535FB1087D}"/>
              </a:ext>
            </a:extLst>
          </p:cNvPr>
          <p:cNvSpPr>
            <a:spLocks noGrp="1" noChangeArrowheads="1"/>
          </p:cNvSpPr>
          <p:nvPr>
            <p:ph idx="1"/>
          </p:nvPr>
        </p:nvSpPr>
        <p:spPr bwMode="auto">
          <a:xfrm>
            <a:off x="1499090" y="1637201"/>
            <a:ext cx="920033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Oster et al. (2018)</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studied AF detection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devices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smartwatches for real-time monitoring.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Yildirim et al. (2019)</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AF detection by converting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ECG signals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images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applying CNN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Guglielmo et al. (2020)</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highlighted challenges such as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imbalance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dataset quality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machine learning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Xu et al. (2023)</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transfer learning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CNN performance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different ECG datasets.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studies show that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CNN-based methods provide more accurate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automated AF detection compared to traditional techniques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76914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8BCB-318F-425B-9BE5-C027F9A24E1B}"/>
              </a:ext>
            </a:extLst>
          </p:cNvPr>
          <p:cNvSpPr>
            <a:spLocks noGrp="1"/>
          </p:cNvSpPr>
          <p:nvPr>
            <p:ph type="title"/>
          </p:nvPr>
        </p:nvSpPr>
        <p:spPr>
          <a:xfrm>
            <a:off x="1708371" y="452877"/>
            <a:ext cx="7958331" cy="1077229"/>
          </a:xfrm>
        </p:spPr>
        <p:txBody>
          <a:bodyPr/>
          <a:lstStyle/>
          <a:p>
            <a:pPr algn="l"/>
            <a:r>
              <a:rPr lang="en-IN" b="1" dirty="0">
                <a:latin typeface="Times New Roman" panose="02020603050405020304" pitchFamily="18" charset="0"/>
                <a:cs typeface="Times New Roman" panose="02020603050405020304" pitchFamily="18" charset="0"/>
              </a:rPr>
              <a:t>Existing System</a:t>
            </a:r>
          </a:p>
        </p:txBody>
      </p:sp>
      <p:sp>
        <p:nvSpPr>
          <p:cNvPr id="4" name="Rectangle 1">
            <a:extLst>
              <a:ext uri="{FF2B5EF4-FFF2-40B4-BE49-F238E27FC236}">
                <a16:creationId xmlns:a16="http://schemas.microsoft.com/office/drawing/2014/main" id="{0183CB02-9D8B-D3A8-6769-4EA6E5AF7194}"/>
              </a:ext>
            </a:extLst>
          </p:cNvPr>
          <p:cNvSpPr>
            <a:spLocks noGrp="1" noChangeArrowheads="1"/>
          </p:cNvSpPr>
          <p:nvPr>
            <p:ph idx="1"/>
          </p:nvPr>
        </p:nvSpPr>
        <p:spPr bwMode="auto">
          <a:xfrm>
            <a:off x="1501492" y="1228303"/>
            <a:ext cx="9189015"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AF detection systems use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medical devices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monitor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heart activity continuously.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devices include components such as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1-lead ECG sensor, ARM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processor, Bluetooth module, SD card, and rechargeable battery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ECG signals are collected and processed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filtering and the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Tompkins</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algorithm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P-wave presence and heart rate variability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Neural Networks (ANN)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used to classify heart conditions based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extracted ECG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trained using ECG datasets such as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MIT/BIH Atrial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Fibrillation Database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wearable systems help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detection of AF and provide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 for cardiologists in monitoring patients’ heart health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93858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F2FC-44D2-92A3-1141-313173A244CE}"/>
              </a:ext>
            </a:extLst>
          </p:cNvPr>
          <p:cNvSpPr>
            <a:spLocks noGrp="1"/>
          </p:cNvSpPr>
          <p:nvPr>
            <p:ph type="title"/>
          </p:nvPr>
        </p:nvSpPr>
        <p:spPr>
          <a:xfrm>
            <a:off x="1801103" y="666654"/>
            <a:ext cx="7958331" cy="1077229"/>
          </a:xfrm>
        </p:spPr>
        <p:txBody>
          <a:bodyPr/>
          <a:lstStyle/>
          <a:p>
            <a:pPr algn="l"/>
            <a:r>
              <a:rPr lang="en-IN" b="1" dirty="0">
                <a:latin typeface="Times New Roman" panose="02020603050405020304" pitchFamily="18" charset="0"/>
                <a:cs typeface="Times New Roman" panose="02020603050405020304" pitchFamily="18" charset="0"/>
              </a:rPr>
              <a:t>PROPOSED SYSTEM</a:t>
            </a:r>
          </a:p>
        </p:txBody>
      </p:sp>
      <p:sp>
        <p:nvSpPr>
          <p:cNvPr id="4" name="Rectangle 1">
            <a:extLst>
              <a:ext uri="{FF2B5EF4-FFF2-40B4-BE49-F238E27FC236}">
                <a16:creationId xmlns:a16="http://schemas.microsoft.com/office/drawing/2014/main" id="{A095D7DD-2C63-802C-E096-A35DCB3F465E}"/>
              </a:ext>
            </a:extLst>
          </p:cNvPr>
          <p:cNvSpPr>
            <a:spLocks noGrp="1" noChangeArrowheads="1"/>
          </p:cNvSpPr>
          <p:nvPr>
            <p:ph idx="1"/>
          </p:nvPr>
        </p:nvSpPr>
        <p:spPr bwMode="auto">
          <a:xfrm>
            <a:off x="1339753" y="1643100"/>
            <a:ext cx="973137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uses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automatically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Atrial Fibrillation (AF)</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ECG signals.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ECG devices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continuously collect real-time heart data from patients.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ECG signals are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remove noise and divided into smaller segments.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ECG segment is converted into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 spectrogram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feature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model is trained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spectrogram datasets to learn patterns related to AF.</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classify ECG signals in real-time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detect AF with high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are displayed through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user-friendly interface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can be stored in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systems for remote monitoring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7514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DD25D-ADAB-F1B6-9D23-C7B3F36EA163}"/>
              </a:ext>
            </a:extLst>
          </p:cNvPr>
          <p:cNvSpPr>
            <a:spLocks noGrp="1"/>
          </p:cNvSpPr>
          <p:nvPr>
            <p:ph type="title"/>
          </p:nvPr>
        </p:nvSpPr>
        <p:spPr>
          <a:xfrm>
            <a:off x="1537152" y="430984"/>
            <a:ext cx="7958331" cy="1077229"/>
          </a:xfrm>
        </p:spPr>
        <p:txBody>
          <a:bodyPr/>
          <a:lstStyle/>
          <a:p>
            <a:pPr algn="l"/>
            <a:r>
              <a:rPr lang="en-US" sz="3200" b="1" dirty="0">
                <a:latin typeface="Times New Roman" panose="02020603050405020304" pitchFamily="18" charset="0"/>
                <a:cs typeface="Times New Roman" panose="02020603050405020304" pitchFamily="18" charset="0"/>
              </a:rPr>
              <a:t>SYSTEM REQUIREMENTS</a:t>
            </a:r>
            <a:endParaRPr lang="en-IN" dirty="0"/>
          </a:p>
        </p:txBody>
      </p:sp>
      <p:sp>
        <p:nvSpPr>
          <p:cNvPr id="3" name="Content Placeholder 2">
            <a:extLst>
              <a:ext uri="{FF2B5EF4-FFF2-40B4-BE49-F238E27FC236}">
                <a16:creationId xmlns:a16="http://schemas.microsoft.com/office/drawing/2014/main" id="{2D5D959E-596F-3E0F-C79B-5A3C9D89D144}"/>
              </a:ext>
            </a:extLst>
          </p:cNvPr>
          <p:cNvSpPr>
            <a:spLocks noGrp="1"/>
          </p:cNvSpPr>
          <p:nvPr>
            <p:ph idx="1"/>
          </p:nvPr>
        </p:nvSpPr>
        <p:spPr>
          <a:xfrm>
            <a:off x="1618046" y="1665617"/>
            <a:ext cx="8223537" cy="4226136"/>
          </a:xfrm>
        </p:spPr>
        <p:txBody>
          <a:bodyPr>
            <a:normAutofit fontScale="25000" lnSpcReduction="20000"/>
          </a:bodyPr>
          <a:lstStyle/>
          <a:p>
            <a:pPr marL="0" indent="0" algn="just">
              <a:lnSpc>
                <a:spcPct val="150000"/>
              </a:lnSpc>
              <a:buNone/>
            </a:pPr>
            <a:r>
              <a:rPr lang="en-US" sz="8000" b="1" dirty="0">
                <a:latin typeface="Times New Roman" panose="02020603050405020304" pitchFamily="18" charset="0"/>
                <a:cs typeface="Times New Roman" panose="02020603050405020304" pitchFamily="18" charset="0"/>
              </a:rPr>
              <a:t>HARDWARE REQUIREMENTS</a:t>
            </a:r>
          </a:p>
          <a:p>
            <a:pPr lvl="0" algn="just">
              <a:lnSpc>
                <a:spcPct val="150000"/>
              </a:lnSpc>
            </a:pPr>
            <a:r>
              <a:rPr lang="en-US" sz="6200" dirty="0">
                <a:latin typeface="Times New Roman" pitchFamily="18" charset="0"/>
                <a:cs typeface="Times New Roman" pitchFamily="18" charset="0"/>
              </a:rPr>
              <a:t> Hard Disk       :   1000 GB</a:t>
            </a:r>
          </a:p>
          <a:p>
            <a:pPr lvl="0" algn="just">
              <a:lnSpc>
                <a:spcPct val="150000"/>
              </a:lnSpc>
            </a:pPr>
            <a:r>
              <a:rPr lang="en-US" sz="6200" dirty="0">
                <a:latin typeface="Times New Roman" pitchFamily="18" charset="0"/>
                <a:cs typeface="Times New Roman" pitchFamily="18" charset="0"/>
              </a:rPr>
              <a:t> Monitor          :   15 VGA color</a:t>
            </a:r>
          </a:p>
          <a:p>
            <a:pPr lvl="0" algn="just">
              <a:lnSpc>
                <a:spcPct val="150000"/>
              </a:lnSpc>
            </a:pPr>
            <a:r>
              <a:rPr lang="en-US" sz="6200" dirty="0">
                <a:latin typeface="Times New Roman" pitchFamily="18" charset="0"/>
                <a:cs typeface="Times New Roman" pitchFamily="18" charset="0"/>
              </a:rPr>
              <a:t> Mouse             :   Microsoft.</a:t>
            </a:r>
          </a:p>
          <a:p>
            <a:pPr lvl="0" algn="just">
              <a:lnSpc>
                <a:spcPct val="150000"/>
              </a:lnSpc>
            </a:pPr>
            <a:r>
              <a:rPr lang="en-US" sz="6200" dirty="0">
                <a:latin typeface="Times New Roman" pitchFamily="18" charset="0"/>
                <a:cs typeface="Times New Roman" pitchFamily="18" charset="0"/>
              </a:rPr>
              <a:t> Keyboard        :   110 keys enhanced</a:t>
            </a:r>
          </a:p>
          <a:p>
            <a:pPr lvl="0" algn="just">
              <a:lnSpc>
                <a:spcPct val="150000"/>
              </a:lnSpc>
            </a:pPr>
            <a:r>
              <a:rPr lang="en-US" sz="6200" dirty="0">
                <a:latin typeface="Times New Roman" pitchFamily="18" charset="0"/>
                <a:cs typeface="Times New Roman" pitchFamily="18" charset="0"/>
              </a:rPr>
              <a:t> RAM	             :   4GB</a:t>
            </a:r>
          </a:p>
          <a:p>
            <a:pPr lvl="0"/>
            <a:r>
              <a:rPr lang="en-IN" sz="6200" dirty="0">
                <a:latin typeface="Times New Roman" pitchFamily="18" charset="0"/>
                <a:cs typeface="Times New Roman" pitchFamily="18" charset="0"/>
              </a:rPr>
              <a:t>Processor         : Intel i3/i5/i7</a:t>
            </a:r>
            <a:endParaRPr lang="en-US" sz="6200" dirty="0">
              <a:latin typeface="Times New Roman" pitchFamily="18" charset="0"/>
              <a:cs typeface="Times New Roman" pitchFamily="18" charset="0"/>
            </a:endParaRPr>
          </a:p>
          <a:p>
            <a:pPr lvl="0"/>
            <a:r>
              <a:rPr lang="en-IN" sz="6200" dirty="0">
                <a:latin typeface="Times New Roman" pitchFamily="18" charset="0"/>
                <a:cs typeface="Times New Roman" pitchFamily="18" charset="0"/>
              </a:rPr>
              <a:t>Hard disk        : 160 GB</a:t>
            </a:r>
            <a:endParaRPr lang="en-US" sz="6200" dirty="0">
              <a:latin typeface="Times New Roman" pitchFamily="18" charset="0"/>
              <a:cs typeface="Times New Roman" pitchFamily="18" charset="0"/>
            </a:endParaRPr>
          </a:p>
          <a:p>
            <a:pPr lvl="0"/>
            <a:r>
              <a:rPr lang="en-IN" sz="6200" dirty="0">
                <a:latin typeface="Times New Roman" pitchFamily="18" charset="0"/>
                <a:cs typeface="Times New Roman" pitchFamily="18" charset="0"/>
              </a:rPr>
              <a:t>Monitor          : 18inch Lcd/Led</a:t>
            </a:r>
            <a:endParaRPr lang="en-US" sz="62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631132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16E8-AD6E-2ACC-76EE-EEC90F56A99C}"/>
              </a:ext>
            </a:extLst>
          </p:cNvPr>
          <p:cNvSpPr>
            <a:spLocks noGrp="1"/>
          </p:cNvSpPr>
          <p:nvPr>
            <p:ph type="title"/>
          </p:nvPr>
        </p:nvSpPr>
        <p:spPr>
          <a:xfrm>
            <a:off x="1782249" y="808056"/>
            <a:ext cx="7958331" cy="1077229"/>
          </a:xfrm>
        </p:spPr>
        <p:txBody>
          <a:bodyPr/>
          <a:lstStyle/>
          <a:p>
            <a:pPr algn="l"/>
            <a:r>
              <a:rPr lang="en-IN" b="1" dirty="0">
                <a:latin typeface="Times New Roman" pitchFamily="18" charset="0"/>
                <a:cs typeface="Times New Roman" pitchFamily="18" charset="0"/>
              </a:rPr>
              <a:t>SOFTWARE REQUIREMENTS</a:t>
            </a:r>
            <a:br>
              <a:rPr lang="en-IN" b="1"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F659AD08-4721-F4F3-3A41-5987488919F1}"/>
              </a:ext>
            </a:extLst>
          </p:cNvPr>
          <p:cNvSpPr>
            <a:spLocks noGrp="1"/>
          </p:cNvSpPr>
          <p:nvPr>
            <p:ph idx="1"/>
          </p:nvPr>
        </p:nvSpPr>
        <p:spPr>
          <a:xfrm>
            <a:off x="1698943" y="1885285"/>
            <a:ext cx="7796540" cy="3997828"/>
          </a:xfrm>
        </p:spPr>
        <p:txBody>
          <a:bodyPr/>
          <a:lstStyle/>
          <a:p>
            <a:pPr lvl="0"/>
            <a:r>
              <a:rPr lang="en-IN" dirty="0">
                <a:latin typeface="Times New Roman" pitchFamily="18" charset="0"/>
                <a:cs typeface="Times New Roman" pitchFamily="18" charset="0"/>
              </a:rPr>
              <a:t>OS: Windows 8/10/11</a:t>
            </a:r>
            <a:endParaRPr lang="en-US" dirty="0">
              <a:latin typeface="Times New Roman" pitchFamily="18" charset="0"/>
              <a:cs typeface="Times New Roman" pitchFamily="18" charset="0"/>
            </a:endParaRPr>
          </a:p>
          <a:p>
            <a:pPr lvl="0"/>
            <a:r>
              <a:rPr lang="en-IN" dirty="0">
                <a:latin typeface="Times New Roman" pitchFamily="18" charset="0"/>
                <a:cs typeface="Times New Roman" pitchFamily="18" charset="0"/>
              </a:rPr>
              <a:t>Editor: VS Code</a:t>
            </a:r>
            <a:endParaRPr lang="en-US" dirty="0">
              <a:latin typeface="Times New Roman" pitchFamily="18" charset="0"/>
              <a:cs typeface="Times New Roman" pitchFamily="18" charset="0"/>
            </a:endParaRPr>
          </a:p>
          <a:p>
            <a:pPr lvl="0"/>
            <a:r>
              <a:rPr lang="en-IN" dirty="0">
                <a:latin typeface="Times New Roman" pitchFamily="18" charset="0"/>
                <a:cs typeface="Times New Roman" pitchFamily="18" charset="0"/>
              </a:rPr>
              <a:t>Python 3.7</a:t>
            </a:r>
            <a:endParaRPr lang="en-US" dirty="0">
              <a:latin typeface="Times New Roman" pitchFamily="18" charset="0"/>
              <a:cs typeface="Times New Roman" pitchFamily="18" charset="0"/>
            </a:endParaRPr>
          </a:p>
          <a:p>
            <a:pPr lvl="0"/>
            <a:r>
              <a:rPr lang="en-IN" dirty="0">
                <a:latin typeface="Times New Roman" pitchFamily="18" charset="0"/>
                <a:cs typeface="Times New Roman" pitchFamily="18" charset="0"/>
              </a:rPr>
              <a:t>Python with its neural network libraries </a:t>
            </a:r>
            <a:endParaRPr lang="en-US" dirty="0">
              <a:latin typeface="Times New Roman" pitchFamily="18" charset="0"/>
              <a:cs typeface="Times New Roman" pitchFamily="18" charset="0"/>
            </a:endParaRPr>
          </a:p>
          <a:p>
            <a:pPr lvl="0"/>
            <a:r>
              <a:rPr lang="en-IN" dirty="0">
                <a:latin typeface="Times New Roman" pitchFamily="18" charset="0"/>
                <a:cs typeface="Times New Roman" pitchFamily="18" charset="0"/>
              </a:rPr>
              <a:t>Front end: HTML</a:t>
            </a:r>
            <a:endParaRPr lang="en-US" dirty="0">
              <a:latin typeface="Times New Roman" pitchFamily="18" charset="0"/>
              <a:cs typeface="Times New Roman" pitchFamily="18" charset="0"/>
            </a:endParaRPr>
          </a:p>
          <a:p>
            <a:pPr lvl="0"/>
            <a:r>
              <a:rPr lang="en-IN" dirty="0">
                <a:latin typeface="Times New Roman" pitchFamily="18" charset="0"/>
                <a:cs typeface="Times New Roman" pitchFamily="18" charset="0"/>
              </a:rPr>
              <a:t>Backend: Django</a:t>
            </a:r>
            <a:endParaRPr lang="en-US" dirty="0">
              <a:latin typeface="Times New Roman" pitchFamily="18"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val="1605134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DC34F-215F-F0BD-320B-83150EC7FF72}"/>
              </a:ext>
            </a:extLst>
          </p:cNvPr>
          <p:cNvSpPr>
            <a:spLocks noGrp="1"/>
          </p:cNvSpPr>
          <p:nvPr>
            <p:ph type="title"/>
          </p:nvPr>
        </p:nvSpPr>
        <p:spPr>
          <a:xfrm>
            <a:off x="1584286" y="770349"/>
            <a:ext cx="7958331" cy="1077229"/>
          </a:xfrm>
        </p:spPr>
        <p:txBody>
          <a:bodyPr/>
          <a:lstStyle/>
          <a:p>
            <a:pPr algn="l"/>
            <a:r>
              <a:rPr lang="en-IN" b="1" dirty="0">
                <a:latin typeface="Times New Roman" panose="02020603050405020304" pitchFamily="18" charset="0"/>
                <a:cs typeface="Times New Roman" panose="02020603050405020304" pitchFamily="18" charset="0"/>
              </a:rPr>
              <a:t>BLOCK DIAGRAM</a:t>
            </a:r>
          </a:p>
        </p:txBody>
      </p:sp>
      <p:pic>
        <p:nvPicPr>
          <p:cNvPr id="5" name="Content Placeholder 4">
            <a:extLst>
              <a:ext uri="{FF2B5EF4-FFF2-40B4-BE49-F238E27FC236}">
                <a16:creationId xmlns:a16="http://schemas.microsoft.com/office/drawing/2014/main" id="{9F258ACF-5D94-27C4-66CA-52D981B01A99}"/>
              </a:ext>
            </a:extLst>
          </p:cNvPr>
          <p:cNvPicPr>
            <a:picLocks noGrp="1" noChangeAspect="1"/>
          </p:cNvPicPr>
          <p:nvPr>
            <p:ph idx="1"/>
          </p:nvPr>
        </p:nvPicPr>
        <p:blipFill>
          <a:blip r:embed="rId2"/>
          <a:stretch>
            <a:fillRect/>
          </a:stretch>
        </p:blipFill>
        <p:spPr>
          <a:xfrm>
            <a:off x="4534293" y="1571756"/>
            <a:ext cx="3195686" cy="4715922"/>
          </a:xfrm>
          <a:prstGeom prst="rect">
            <a:avLst/>
          </a:prstGeom>
        </p:spPr>
      </p:pic>
    </p:spTree>
    <p:extLst>
      <p:ext uri="{BB962C8B-B14F-4D97-AF65-F5344CB8AC3E}">
        <p14:creationId xmlns:p14="http://schemas.microsoft.com/office/powerpoint/2010/main" val="3209829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03D8-4C04-457A-28FB-EFA3C6FDD967}"/>
              </a:ext>
            </a:extLst>
          </p:cNvPr>
          <p:cNvSpPr>
            <a:spLocks noGrp="1"/>
          </p:cNvSpPr>
          <p:nvPr>
            <p:ph type="title"/>
          </p:nvPr>
        </p:nvSpPr>
        <p:spPr>
          <a:xfrm>
            <a:off x="1906333" y="817483"/>
            <a:ext cx="7958331" cy="1077229"/>
          </a:xfrm>
        </p:spPr>
        <p:txBody>
          <a:bodyPr/>
          <a:lstStyle/>
          <a:p>
            <a:pPr algn="l"/>
            <a:r>
              <a:rPr lang="en-IN" b="1" dirty="0">
                <a:latin typeface="Times New Roman" panose="02020603050405020304" pitchFamily="18" charset="0"/>
                <a:cs typeface="Times New Roman" panose="02020603050405020304" pitchFamily="18" charset="0"/>
              </a:rPr>
              <a:t>Modules</a:t>
            </a:r>
          </a:p>
        </p:txBody>
      </p:sp>
      <p:sp>
        <p:nvSpPr>
          <p:cNvPr id="4" name="Rectangle 1">
            <a:extLst>
              <a:ext uri="{FF2B5EF4-FFF2-40B4-BE49-F238E27FC236}">
                <a16:creationId xmlns:a16="http://schemas.microsoft.com/office/drawing/2014/main" id="{C7BD6470-0C2F-097C-441A-98449DA87B66}"/>
              </a:ext>
            </a:extLst>
          </p:cNvPr>
          <p:cNvSpPr>
            <a:spLocks noGrp="1" noChangeArrowheads="1"/>
          </p:cNvSpPr>
          <p:nvPr>
            <p:ph idx="1"/>
          </p:nvPr>
        </p:nvSpPr>
        <p:spPr bwMode="auto">
          <a:xfrm>
            <a:off x="1906333" y="2151838"/>
            <a:ext cx="431400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Acquisition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CNN Model Training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 Detection / Classification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Display and Monitoring Module</a:t>
            </a:r>
          </a:p>
        </p:txBody>
      </p:sp>
    </p:spTree>
    <p:extLst>
      <p:ext uri="{BB962C8B-B14F-4D97-AF65-F5344CB8AC3E}">
        <p14:creationId xmlns:p14="http://schemas.microsoft.com/office/powerpoint/2010/main" val="2449590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460FF-99C1-5946-6095-F1DB946B7690}"/>
              </a:ext>
            </a:extLst>
          </p:cNvPr>
          <p:cNvSpPr>
            <a:spLocks noGrp="1"/>
          </p:cNvSpPr>
          <p:nvPr>
            <p:ph type="title"/>
          </p:nvPr>
        </p:nvSpPr>
        <p:spPr>
          <a:xfrm>
            <a:off x="1565432" y="713788"/>
            <a:ext cx="7958331" cy="1077229"/>
          </a:xfrm>
        </p:spPr>
        <p:txBody>
          <a:bodyPr/>
          <a:lstStyle/>
          <a:p>
            <a:pPr algn="l"/>
            <a:r>
              <a:rPr lang="en-IN" b="1" dirty="0">
                <a:latin typeface="Times New Roman" panose="02020603050405020304" pitchFamily="18" charset="0"/>
                <a:cs typeface="Times New Roman" panose="02020603050405020304" pitchFamily="18" charset="0"/>
              </a:rPr>
              <a:t>Module Description</a:t>
            </a:r>
          </a:p>
        </p:txBody>
      </p:sp>
      <p:sp>
        <p:nvSpPr>
          <p:cNvPr id="3" name="Content Placeholder 2">
            <a:extLst>
              <a:ext uri="{FF2B5EF4-FFF2-40B4-BE49-F238E27FC236}">
                <a16:creationId xmlns:a16="http://schemas.microsoft.com/office/drawing/2014/main" id="{2DA5276C-6C7B-B4F0-1B01-0F31C15CE83C}"/>
              </a:ext>
            </a:extLst>
          </p:cNvPr>
          <p:cNvSpPr>
            <a:spLocks noGrp="1"/>
          </p:cNvSpPr>
          <p:nvPr>
            <p:ph idx="1"/>
          </p:nvPr>
        </p:nvSpPr>
        <p:spPr>
          <a:xfrm>
            <a:off x="1438937" y="1503297"/>
            <a:ext cx="7796540" cy="4640915"/>
          </a:xfrm>
        </p:spPr>
        <p:txBody>
          <a:bodyPr>
            <a:normAutofit fontScale="62500" lnSpcReduction="20000"/>
          </a:bodyPr>
          <a:lstStyle/>
          <a:p>
            <a:r>
              <a:rPr lang="en-IN" sz="3400" b="1" dirty="0">
                <a:latin typeface="Times New Roman" panose="02020603050405020304" pitchFamily="18" charset="0"/>
                <a:cs typeface="Times New Roman" panose="02020603050405020304" pitchFamily="18" charset="0"/>
              </a:rPr>
              <a:t>1. Data Acquisition Module</a:t>
            </a:r>
            <a:endParaRPr lang="en-IN" sz="3400" dirty="0">
              <a:latin typeface="Times New Roman" panose="02020603050405020304" pitchFamily="18" charset="0"/>
              <a:cs typeface="Times New Roman" panose="02020603050405020304" pitchFamily="18" charset="0"/>
            </a:endParaRPr>
          </a:p>
          <a:p>
            <a:r>
              <a:rPr lang="en-IN" sz="2900" dirty="0">
                <a:latin typeface="Times New Roman" panose="02020603050405020304" pitchFamily="18" charset="0"/>
                <a:cs typeface="Times New Roman" panose="02020603050405020304" pitchFamily="18" charset="0"/>
              </a:rPr>
              <a:t>Collects ECG signals from wearable devices or ECG datasets.</a:t>
            </a:r>
          </a:p>
          <a:p>
            <a:r>
              <a:rPr lang="en-IN" sz="2900" dirty="0">
                <a:latin typeface="Times New Roman" panose="02020603050405020304" pitchFamily="18" charset="0"/>
                <a:cs typeface="Times New Roman" panose="02020603050405020304" pitchFamily="18" charset="0"/>
              </a:rPr>
              <a:t>Provides real-time heart activity data for analysis.</a:t>
            </a:r>
          </a:p>
          <a:p>
            <a:r>
              <a:rPr lang="en-IN" sz="3400" b="1" dirty="0">
                <a:latin typeface="Times New Roman" panose="02020603050405020304" pitchFamily="18" charset="0"/>
                <a:cs typeface="Times New Roman" panose="02020603050405020304" pitchFamily="18" charset="0"/>
              </a:rPr>
              <a:t>2. Data Preprocessing Module</a:t>
            </a:r>
            <a:endParaRPr lang="en-IN" sz="3400" dirty="0">
              <a:latin typeface="Times New Roman" panose="02020603050405020304" pitchFamily="18" charset="0"/>
              <a:cs typeface="Times New Roman" panose="02020603050405020304" pitchFamily="18" charset="0"/>
            </a:endParaRPr>
          </a:p>
          <a:p>
            <a:r>
              <a:rPr lang="en-IN" sz="2900" dirty="0">
                <a:latin typeface="Times New Roman" panose="02020603050405020304" pitchFamily="18" charset="0"/>
                <a:cs typeface="Times New Roman" panose="02020603050405020304" pitchFamily="18" charset="0"/>
              </a:rPr>
              <a:t>Removes noise and unwanted signals using filtering techniques.</a:t>
            </a:r>
          </a:p>
          <a:p>
            <a:r>
              <a:rPr lang="en-IN" sz="2900" dirty="0">
                <a:latin typeface="Times New Roman" panose="02020603050405020304" pitchFamily="18" charset="0"/>
                <a:cs typeface="Times New Roman" panose="02020603050405020304" pitchFamily="18" charset="0"/>
              </a:rPr>
              <a:t>Segments ECG signals into smaller intervals for processing.</a:t>
            </a:r>
          </a:p>
          <a:p>
            <a:r>
              <a:rPr lang="en-IN" sz="3400" b="1" dirty="0">
                <a:latin typeface="Times New Roman" panose="02020603050405020304" pitchFamily="18" charset="0"/>
                <a:cs typeface="Times New Roman" panose="02020603050405020304" pitchFamily="18" charset="0"/>
              </a:rPr>
              <a:t>3. Feature Extraction Module</a:t>
            </a:r>
            <a:endParaRPr lang="en-IN" sz="3400" dirty="0">
              <a:latin typeface="Times New Roman" panose="02020603050405020304" pitchFamily="18" charset="0"/>
              <a:cs typeface="Times New Roman" panose="02020603050405020304" pitchFamily="18" charset="0"/>
            </a:endParaRPr>
          </a:p>
          <a:p>
            <a:r>
              <a:rPr lang="en-IN" sz="2900" dirty="0">
                <a:latin typeface="Times New Roman" panose="02020603050405020304" pitchFamily="18" charset="0"/>
                <a:cs typeface="Times New Roman" panose="02020603050405020304" pitchFamily="18" charset="0"/>
              </a:rPr>
              <a:t>Converts ECG signals into </a:t>
            </a:r>
            <a:r>
              <a:rPr lang="en-IN" sz="2900" b="1" dirty="0">
                <a:latin typeface="Times New Roman" panose="02020603050405020304" pitchFamily="18" charset="0"/>
                <a:cs typeface="Times New Roman" panose="02020603050405020304" pitchFamily="18" charset="0"/>
              </a:rPr>
              <a:t>2D spectrogram or wavelet images</a:t>
            </a:r>
            <a:r>
              <a:rPr lang="en-IN" sz="2900" dirty="0">
                <a:latin typeface="Times New Roman" panose="02020603050405020304" pitchFamily="18" charset="0"/>
                <a:cs typeface="Times New Roman" panose="02020603050405020304" pitchFamily="18" charset="0"/>
              </a:rPr>
              <a:t>.</a:t>
            </a:r>
          </a:p>
          <a:p>
            <a:r>
              <a:rPr lang="en-IN" sz="2900" dirty="0">
                <a:latin typeface="Times New Roman" panose="02020603050405020304" pitchFamily="18" charset="0"/>
                <a:cs typeface="Times New Roman" panose="02020603050405020304" pitchFamily="18" charset="0"/>
              </a:rPr>
              <a:t>Extracts important time and frequency features from ECG data.</a:t>
            </a:r>
          </a:p>
          <a:p>
            <a:endParaRPr lang="en-IN" dirty="0"/>
          </a:p>
        </p:txBody>
      </p:sp>
    </p:spTree>
    <p:extLst>
      <p:ext uri="{BB962C8B-B14F-4D97-AF65-F5344CB8AC3E}">
        <p14:creationId xmlns:p14="http://schemas.microsoft.com/office/powerpoint/2010/main" val="1830667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34CEB-4DCA-B3D5-C981-9425F15C49E9}"/>
              </a:ext>
            </a:extLst>
          </p:cNvPr>
          <p:cNvSpPr>
            <a:spLocks noGrp="1"/>
          </p:cNvSpPr>
          <p:nvPr>
            <p:ph type="title"/>
          </p:nvPr>
        </p:nvSpPr>
        <p:spPr/>
        <p:txBody>
          <a:bodyPr/>
          <a:lstStyle/>
          <a:p>
            <a:pPr algn="l"/>
            <a:r>
              <a:rPr lang="en-IN" b="1" dirty="0">
                <a:latin typeface="Times New Roman" panose="02020603050405020304" pitchFamily="18" charset="0"/>
                <a:cs typeface="Times New Roman" panose="02020603050405020304" pitchFamily="18" charset="0"/>
              </a:rPr>
              <a:t>Module Description</a:t>
            </a:r>
            <a:endParaRPr lang="en-IN" dirty="0"/>
          </a:p>
        </p:txBody>
      </p:sp>
      <p:sp>
        <p:nvSpPr>
          <p:cNvPr id="3" name="Content Placeholder 2">
            <a:extLst>
              <a:ext uri="{FF2B5EF4-FFF2-40B4-BE49-F238E27FC236}">
                <a16:creationId xmlns:a16="http://schemas.microsoft.com/office/drawing/2014/main" id="{57C79E40-FB7D-6E98-DA2D-4D00D269A0F5}"/>
              </a:ext>
            </a:extLst>
          </p:cNvPr>
          <p:cNvSpPr>
            <a:spLocks noGrp="1"/>
          </p:cNvSpPr>
          <p:nvPr>
            <p:ph idx="1"/>
          </p:nvPr>
        </p:nvSpPr>
        <p:spPr>
          <a:xfrm>
            <a:off x="1698942" y="1885285"/>
            <a:ext cx="8529139" cy="4477808"/>
          </a:xfrm>
        </p:spPr>
        <p:txBody>
          <a:bodyPr>
            <a:normAutofit fontScale="92500" lnSpcReduction="20000"/>
          </a:bodyPr>
          <a:lstStyle/>
          <a:p>
            <a:r>
              <a:rPr lang="en-IN" sz="2300" b="1" dirty="0">
                <a:latin typeface="Times New Roman" panose="02020603050405020304" pitchFamily="18" charset="0"/>
                <a:cs typeface="Times New Roman" panose="02020603050405020304" pitchFamily="18" charset="0"/>
              </a:rPr>
              <a:t>4. CNN Model Training Module</a:t>
            </a:r>
            <a:endParaRPr lang="en-IN" sz="23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Trains the </a:t>
            </a:r>
            <a:r>
              <a:rPr lang="en-IN" sz="1900" b="1" dirty="0">
                <a:latin typeface="Times New Roman" panose="02020603050405020304" pitchFamily="18" charset="0"/>
                <a:cs typeface="Times New Roman" panose="02020603050405020304" pitchFamily="18" charset="0"/>
              </a:rPr>
              <a:t>CNN model</a:t>
            </a:r>
            <a:r>
              <a:rPr lang="en-IN" sz="1900" dirty="0">
                <a:latin typeface="Times New Roman" panose="02020603050405020304" pitchFamily="18" charset="0"/>
                <a:cs typeface="Times New Roman" panose="02020603050405020304" pitchFamily="18" charset="0"/>
              </a:rPr>
              <a:t> using </a:t>
            </a:r>
            <a:r>
              <a:rPr lang="en-IN" sz="1900" dirty="0" err="1">
                <a:latin typeface="Times New Roman" panose="02020603050405020304" pitchFamily="18" charset="0"/>
                <a:cs typeface="Times New Roman" panose="02020603050405020304" pitchFamily="18" charset="0"/>
              </a:rPr>
              <a:t>labeled</a:t>
            </a:r>
            <a:r>
              <a:rPr lang="en-IN" sz="1900" dirty="0">
                <a:latin typeface="Times New Roman" panose="02020603050405020304" pitchFamily="18" charset="0"/>
                <a:cs typeface="Times New Roman" panose="02020603050405020304" pitchFamily="18" charset="0"/>
              </a:rPr>
              <a:t> ECG datasets.</a:t>
            </a:r>
          </a:p>
          <a:p>
            <a:r>
              <a:rPr lang="en-IN" sz="1900" dirty="0">
                <a:latin typeface="Times New Roman" panose="02020603050405020304" pitchFamily="18" charset="0"/>
                <a:cs typeface="Times New Roman" panose="02020603050405020304" pitchFamily="18" charset="0"/>
              </a:rPr>
              <a:t>Helps the system learn patterns of normal and AF signals.</a:t>
            </a:r>
          </a:p>
          <a:p>
            <a:r>
              <a:rPr lang="en-IN" sz="2300" b="1" dirty="0">
                <a:latin typeface="Times New Roman" panose="02020603050405020304" pitchFamily="18" charset="0"/>
                <a:cs typeface="Times New Roman" panose="02020603050405020304" pitchFamily="18" charset="0"/>
              </a:rPr>
              <a:t>5. AF Detection / Classification Module</a:t>
            </a:r>
            <a:endParaRPr lang="en-IN" sz="23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Classifies ECG signals as </a:t>
            </a:r>
            <a:r>
              <a:rPr lang="en-IN" sz="1900" b="1" dirty="0">
                <a:latin typeface="Times New Roman" panose="02020603050405020304" pitchFamily="18" charset="0"/>
                <a:cs typeface="Times New Roman" panose="02020603050405020304" pitchFamily="18" charset="0"/>
              </a:rPr>
              <a:t>Normal or Atrial Fibrillation</a:t>
            </a:r>
            <a:r>
              <a:rPr lang="en-IN" sz="1900" dirty="0">
                <a:latin typeface="Times New Roman" panose="02020603050405020304" pitchFamily="18" charset="0"/>
                <a:cs typeface="Times New Roman" panose="02020603050405020304" pitchFamily="18" charset="0"/>
              </a:rPr>
              <a:t>.</a:t>
            </a:r>
          </a:p>
          <a:p>
            <a:r>
              <a:rPr lang="en-IN" sz="1900" dirty="0">
                <a:latin typeface="Times New Roman" panose="02020603050405020304" pitchFamily="18" charset="0"/>
                <a:cs typeface="Times New Roman" panose="02020603050405020304" pitchFamily="18" charset="0"/>
              </a:rPr>
              <a:t>Uses the trained CNN model for accurate detection.</a:t>
            </a:r>
          </a:p>
          <a:p>
            <a:r>
              <a:rPr lang="en-IN" sz="2300" b="1" dirty="0">
                <a:latin typeface="Times New Roman" panose="02020603050405020304" pitchFamily="18" charset="0"/>
                <a:cs typeface="Times New Roman" panose="02020603050405020304" pitchFamily="18" charset="0"/>
              </a:rPr>
              <a:t>6. Result Display and Monitoring Module</a:t>
            </a:r>
            <a:endParaRPr lang="en-IN" sz="23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Displays ECG results and AF detection output to users.</a:t>
            </a:r>
          </a:p>
          <a:p>
            <a:r>
              <a:rPr lang="en-IN" sz="1900" dirty="0">
                <a:latin typeface="Times New Roman" panose="02020603050405020304" pitchFamily="18" charset="0"/>
                <a:cs typeface="Times New Roman" panose="02020603050405020304" pitchFamily="18" charset="0"/>
              </a:rPr>
              <a:t>Sends alerts for early diagnosis and monitoring.</a:t>
            </a:r>
          </a:p>
          <a:p>
            <a:endParaRPr lang="en-IN" dirty="0"/>
          </a:p>
        </p:txBody>
      </p:sp>
    </p:spTree>
    <p:extLst>
      <p:ext uri="{BB962C8B-B14F-4D97-AF65-F5344CB8AC3E}">
        <p14:creationId xmlns:p14="http://schemas.microsoft.com/office/powerpoint/2010/main" val="213479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0914B-D131-F6F2-20F8-784F965429CC}"/>
              </a:ext>
            </a:extLst>
          </p:cNvPr>
          <p:cNvSpPr>
            <a:spLocks noGrp="1"/>
          </p:cNvSpPr>
          <p:nvPr>
            <p:ph type="title"/>
          </p:nvPr>
        </p:nvSpPr>
        <p:spPr>
          <a:xfrm>
            <a:off x="1677835" y="694934"/>
            <a:ext cx="7958331" cy="1077229"/>
          </a:xfrm>
        </p:spPr>
        <p:txBody>
          <a:bodyPr/>
          <a:lstStyle/>
          <a:p>
            <a:pPr algn="l"/>
            <a:r>
              <a:rPr lang="en-IN" b="1" dirty="0">
                <a:latin typeface="Times New Roman" panose="02020603050405020304" pitchFamily="18" charset="0"/>
                <a:cs typeface="Times New Roman" panose="02020603050405020304" pitchFamily="18" charset="0"/>
              </a:rPr>
              <a:t>Future Enhancement</a:t>
            </a:r>
          </a:p>
        </p:txBody>
      </p:sp>
      <p:sp>
        <p:nvSpPr>
          <p:cNvPr id="4" name="Rectangle 1">
            <a:extLst>
              <a:ext uri="{FF2B5EF4-FFF2-40B4-BE49-F238E27FC236}">
                <a16:creationId xmlns:a16="http://schemas.microsoft.com/office/drawing/2014/main" id="{8DD4EC91-96E1-9346-4D03-73DC125557B3}"/>
              </a:ext>
            </a:extLst>
          </p:cNvPr>
          <p:cNvSpPr>
            <a:spLocks noGrp="1" noChangeArrowheads="1"/>
          </p:cNvSpPr>
          <p:nvPr>
            <p:ph idx="1"/>
          </p:nvPr>
        </p:nvSpPr>
        <p:spPr bwMode="auto">
          <a:xfrm>
            <a:off x="1677835" y="1885285"/>
            <a:ext cx="883633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Integrating the system with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wearable devices and smartwatches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heart monitoring.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Improving the model accuracy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ECG datasets and advanced deep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learning algorithms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Developing a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display ECG results and AF alerts in real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storage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data management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remote monitoring by doctors.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Expanding the system to detect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heart diseases and arrhythmias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addition to AF.</a:t>
            </a:r>
          </a:p>
        </p:txBody>
      </p:sp>
    </p:spTree>
    <p:extLst>
      <p:ext uri="{BB962C8B-B14F-4D97-AF65-F5344CB8AC3E}">
        <p14:creationId xmlns:p14="http://schemas.microsoft.com/office/powerpoint/2010/main" val="3758388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25939-B088-87DA-56E4-770923C76F9B}"/>
              </a:ext>
            </a:extLst>
          </p:cNvPr>
          <p:cNvSpPr>
            <a:spLocks noGrp="1"/>
          </p:cNvSpPr>
          <p:nvPr>
            <p:ph type="title"/>
          </p:nvPr>
        </p:nvSpPr>
        <p:spPr>
          <a:xfrm>
            <a:off x="1772822" y="808056"/>
            <a:ext cx="7958331" cy="1077229"/>
          </a:xfrm>
        </p:spPr>
        <p:txBody>
          <a:bodyPr/>
          <a:lstStyle/>
          <a:p>
            <a:pPr algn="l"/>
            <a:r>
              <a:rPr lang="en-IN" b="1" dirty="0">
                <a:latin typeface="Times New Roman" panose="02020603050405020304" pitchFamily="18" charset="0"/>
                <a:cs typeface="Times New Roman" panose="02020603050405020304" pitchFamily="18" charset="0"/>
              </a:rPr>
              <a:t>CONCLUSION</a:t>
            </a:r>
          </a:p>
        </p:txBody>
      </p:sp>
      <p:sp>
        <p:nvSpPr>
          <p:cNvPr id="6" name="Rectangle 1">
            <a:extLst>
              <a:ext uri="{FF2B5EF4-FFF2-40B4-BE49-F238E27FC236}">
                <a16:creationId xmlns:a16="http://schemas.microsoft.com/office/drawing/2014/main" id="{5DF0FA83-4720-E9E5-CC40-5E869AEBCF8F}"/>
              </a:ext>
            </a:extLst>
          </p:cNvPr>
          <p:cNvSpPr>
            <a:spLocks noGrp="1" noChangeArrowheads="1"/>
          </p:cNvSpPr>
          <p:nvPr>
            <p:ph idx="1"/>
          </p:nvPr>
        </p:nvSpPr>
        <p:spPr bwMode="auto">
          <a:xfrm>
            <a:off x="1592511" y="2100461"/>
            <a:ext cx="937086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uses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Atrial Fibrillation (AF)</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ECG signals automatically.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Converting ECG signals into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 spectrograms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the model identify important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patterns related to AF.</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and efficient AF detection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diagnosis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compared to traditional methods.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can support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and early detection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healthcare professionals provide better treatment and patient care.</a:t>
            </a:r>
          </a:p>
        </p:txBody>
      </p:sp>
    </p:spTree>
    <p:extLst>
      <p:ext uri="{BB962C8B-B14F-4D97-AF65-F5344CB8AC3E}">
        <p14:creationId xmlns:p14="http://schemas.microsoft.com/office/powerpoint/2010/main" val="341390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01EBC-3B15-C66C-F67C-22727FA8BFDD}"/>
              </a:ext>
            </a:extLst>
          </p:cNvPr>
          <p:cNvSpPr>
            <a:spLocks noGrp="1"/>
          </p:cNvSpPr>
          <p:nvPr>
            <p:ph type="title"/>
          </p:nvPr>
        </p:nvSpPr>
        <p:spPr>
          <a:xfrm>
            <a:off x="1593713" y="676081"/>
            <a:ext cx="7958331" cy="1077229"/>
          </a:xfrm>
        </p:spPr>
        <p:txBody>
          <a:bodyPr/>
          <a:lstStyle/>
          <a:p>
            <a:pPr algn="l"/>
            <a:r>
              <a:rPr lang="en-US" b="1"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23E78FE-4333-0F5F-931E-0A20543347BD}"/>
              </a:ext>
            </a:extLst>
          </p:cNvPr>
          <p:cNvSpPr>
            <a:spLocks noGrp="1" noChangeArrowheads="1"/>
          </p:cNvSpPr>
          <p:nvPr>
            <p:ph idx="1"/>
          </p:nvPr>
        </p:nvSpPr>
        <p:spPr bwMode="auto">
          <a:xfrm>
            <a:off x="1470582" y="1325518"/>
            <a:ext cx="879461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Bhavnani, S. P., Narula, J., &amp; Sengupta, P. P. (2016). </a:t>
            </a:r>
            <a:r>
              <a:rPr kumimoji="0" lang="en-US" altLang="en-US" sz="1800" b="0" i="1" u="none" strike="noStrike" cap="none" normalizeH="0" baseline="0" dirty="0">
                <a:ln>
                  <a:noFill/>
                </a:ln>
                <a:solidFill>
                  <a:schemeClr val="tx1"/>
                </a:solidFill>
                <a:effectLst/>
                <a:latin typeface="Arial" panose="020B0604020202020204" pitchFamily="34" charset="0"/>
              </a:rPr>
              <a:t>Mobile technology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 and the digitization of healthcare</a:t>
            </a:r>
            <a:r>
              <a:rPr kumimoji="0" lang="en-US" altLang="en-US" sz="1800" b="0" i="0" u="none" strike="noStrike" cap="none" normalizeH="0" baseline="0" dirty="0">
                <a:ln>
                  <a:noFill/>
                </a:ln>
                <a:solidFill>
                  <a:schemeClr val="tx1"/>
                </a:solidFill>
                <a:effectLst/>
                <a:latin typeface="Arial" panose="020B0604020202020204" pitchFamily="34" charset="0"/>
              </a:rPr>
              <a:t>. European Heart Journal.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Camm, A. J. et al. (2010). </a:t>
            </a:r>
            <a:r>
              <a:rPr kumimoji="0" lang="en-US" altLang="en-US" sz="1800" b="0" i="1" u="none" strike="noStrike" cap="none" normalizeH="0" baseline="0" dirty="0">
                <a:ln>
                  <a:noFill/>
                </a:ln>
                <a:solidFill>
                  <a:schemeClr val="tx1"/>
                </a:solidFill>
                <a:effectLst/>
                <a:latin typeface="Arial" panose="020B0604020202020204" pitchFamily="34" charset="0"/>
              </a:rPr>
              <a:t>Guidelines for the management of atrial fibrillation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European Heart Journal.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Ghodrati</a:t>
            </a:r>
            <a:r>
              <a:rPr kumimoji="0" lang="en-US" altLang="en-US" sz="1800" b="0" i="0" u="none" strike="noStrike" cap="none" normalizeH="0" baseline="0" dirty="0">
                <a:ln>
                  <a:noFill/>
                </a:ln>
                <a:solidFill>
                  <a:schemeClr val="tx1"/>
                </a:solidFill>
                <a:effectLst/>
                <a:latin typeface="Arial" panose="020B0604020202020204" pitchFamily="34" charset="0"/>
              </a:rPr>
              <a:t>, A., Murray, B., &amp; Marinello, S. (2008). </a:t>
            </a:r>
            <a:r>
              <a:rPr kumimoji="0" lang="en-US" altLang="en-US" sz="1800" b="0" i="1" u="none" strike="noStrike" cap="none" normalizeH="0" baseline="0" dirty="0">
                <a:ln>
                  <a:noFill/>
                </a:ln>
                <a:solidFill>
                  <a:schemeClr val="tx1"/>
                </a:solidFill>
                <a:effectLst/>
                <a:latin typeface="Arial" panose="020B0604020202020204" pitchFamily="34" charset="0"/>
              </a:rPr>
              <a:t>RR interval analysis for detection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 of atrial fibrillation in ECG monitors</a:t>
            </a:r>
            <a:r>
              <a:rPr kumimoji="0" lang="en-US" altLang="en-US" sz="1800" b="0" i="0" u="none" strike="noStrike" cap="none" normalizeH="0" baseline="0" dirty="0">
                <a:ln>
                  <a:noFill/>
                </a:ln>
                <a:solidFill>
                  <a:schemeClr val="tx1"/>
                </a:solidFill>
                <a:effectLst/>
                <a:latin typeface="Arial" panose="020B0604020202020204" pitchFamily="34" charset="0"/>
              </a:rPr>
              <a:t>. IEEE Conference.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Goldberger, A. L. et al. (2000). </a:t>
            </a:r>
            <a:r>
              <a:rPr kumimoji="0" lang="en-US" altLang="en-US" sz="1800" b="0" i="1" u="none" strike="noStrike" cap="none" normalizeH="0" baseline="0" dirty="0" err="1">
                <a:ln>
                  <a:noFill/>
                </a:ln>
                <a:solidFill>
                  <a:schemeClr val="tx1"/>
                </a:solidFill>
                <a:effectLst/>
                <a:latin typeface="Arial" panose="020B0604020202020204" pitchFamily="34" charset="0"/>
              </a:rPr>
              <a:t>PhysioBank</a:t>
            </a:r>
            <a:r>
              <a:rPr kumimoji="0" lang="en-US" altLang="en-US" sz="1800" b="0" i="1"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err="1">
                <a:ln>
                  <a:noFill/>
                </a:ln>
                <a:solidFill>
                  <a:schemeClr val="tx1"/>
                </a:solidFill>
                <a:effectLst/>
                <a:latin typeface="Arial" panose="020B0604020202020204" pitchFamily="34" charset="0"/>
              </a:rPr>
              <a:t>PhysioToolkit</a:t>
            </a:r>
            <a:r>
              <a:rPr kumimoji="0" lang="en-US" altLang="en-US" sz="1800" b="0" i="1" u="none" strike="noStrike" cap="none" normalizeH="0" baseline="0" dirty="0">
                <a:ln>
                  <a:noFill/>
                </a:ln>
                <a:solidFill>
                  <a:schemeClr val="tx1"/>
                </a:solidFill>
                <a:effectLst/>
                <a:latin typeface="Arial" panose="020B0604020202020204" pitchFamily="34" charset="0"/>
              </a:rPr>
              <a:t>, and PhysioNet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Circulation Journal.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Gotlibovych</a:t>
            </a:r>
            <a:r>
              <a:rPr kumimoji="0" lang="en-US" altLang="en-US" sz="1800" b="0" i="0" u="none" strike="noStrike" cap="none" normalizeH="0" baseline="0" dirty="0">
                <a:ln>
                  <a:noFill/>
                </a:ln>
                <a:solidFill>
                  <a:schemeClr val="tx1"/>
                </a:solidFill>
                <a:effectLst/>
                <a:latin typeface="Arial" panose="020B0604020202020204" pitchFamily="34" charset="0"/>
              </a:rPr>
              <a:t>, I. et al. (2018). </a:t>
            </a:r>
            <a:r>
              <a:rPr kumimoji="0" lang="en-US" altLang="en-US" sz="1800" b="0" i="1" u="none" strike="noStrike" cap="none" normalizeH="0" baseline="0" dirty="0">
                <a:ln>
                  <a:noFill/>
                </a:ln>
                <a:solidFill>
                  <a:schemeClr val="tx1"/>
                </a:solidFill>
                <a:effectLst/>
                <a:latin typeface="Arial" panose="020B0604020202020204" pitchFamily="34" charset="0"/>
              </a:rPr>
              <a:t>Deep learning from raw sensor data for AF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1" u="none" strike="noStrike" cap="none" normalizeH="0" baseline="0" dirty="0">
                <a:ln>
                  <a:noFill/>
                </a:ln>
                <a:solidFill>
                  <a:schemeClr val="tx1"/>
                </a:solidFill>
                <a:effectLst/>
                <a:latin typeface="Arial" panose="020B0604020202020204" pitchFamily="34" charset="0"/>
              </a:rPr>
              <a:t>detection using wearables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Lau, J. K. et al. (2013). </a:t>
            </a:r>
            <a:r>
              <a:rPr kumimoji="0" lang="en-US" altLang="en-US" sz="1800" b="0" i="1" u="none" strike="noStrike" cap="none" normalizeH="0" baseline="0" dirty="0">
                <a:ln>
                  <a:noFill/>
                </a:ln>
                <a:solidFill>
                  <a:schemeClr val="tx1"/>
                </a:solidFill>
                <a:effectLst/>
                <a:latin typeface="Arial" panose="020B0604020202020204" pitchFamily="34" charset="0"/>
              </a:rPr>
              <a:t>iPhone ECG application for AF screening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International Journal of Cardiology.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65057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{47FE86D5-452C-474E-98E2-2D915DB7037A}TF37254b02-f5b5-44b0-803d-e6af9466a024d8712c6d-28d3f990fef7</Template>
  <TotalTime>265</TotalTime>
  <Words>1403</Words>
  <Application>Microsoft Office PowerPoint</Application>
  <PresentationFormat>Widescreen</PresentationFormat>
  <Paragraphs>180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MS Shell Dlg 2</vt:lpstr>
      <vt:lpstr>Times New Roman</vt:lpstr>
      <vt:lpstr>Wingdings</vt:lpstr>
      <vt:lpstr>Wingdings 3</vt:lpstr>
      <vt:lpstr>Madison</vt:lpstr>
      <vt:lpstr>ATRIAL FIBRILLATION </vt:lpstr>
      <vt:lpstr>ABSTRACT </vt:lpstr>
      <vt:lpstr>INTRODUCTION</vt:lpstr>
      <vt:lpstr>Atrial Fibrillation Detection using Deep Learning</vt:lpstr>
      <vt:lpstr>OBJECTIVES</vt:lpstr>
      <vt:lpstr>LITERATURE</vt:lpstr>
      <vt:lpstr>LITERATURE</vt:lpstr>
      <vt:lpstr>Existing System</vt:lpstr>
      <vt:lpstr>PROPOSED SYSTEM</vt:lpstr>
      <vt:lpstr>SYSTEM REQUIREMENTS</vt:lpstr>
      <vt:lpstr>SOFTWARE REQUIREMENTS </vt:lpstr>
      <vt:lpstr>BLOCK DIAGRAM</vt:lpstr>
      <vt:lpstr>Modules</vt:lpstr>
      <vt:lpstr>Module Description</vt:lpstr>
      <vt:lpstr>Module Description</vt:lpstr>
      <vt:lpstr>Future Enhancement</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Deepan Dpan</dc:creator>
  <cp:lastModifiedBy>Deepan Dpan</cp:lastModifiedBy>
  <cp:revision>3</cp:revision>
  <dcterms:created xsi:type="dcterms:W3CDTF">2026-03-14T06:24:04Z</dcterms:created>
  <dcterms:modified xsi:type="dcterms:W3CDTF">2026-03-16T07:57:17Z</dcterms:modified>
</cp:coreProperties>
</file>